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3"/>
    <p:sldId id="257" r:id="rId4"/>
    <p:sldId id="262" r:id="rId5"/>
    <p:sldId id="263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812FF0-1F5B-644B-8054-56A26E4299F6}" v="162" dt="2024-05-13T19:06:53.9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11"/>
    <p:restoredTop sz="95880"/>
  </p:normalViewPr>
  <p:slideViewPr>
    <p:cSldViewPr snapToGrid="0">
      <p:cViewPr varScale="1">
        <p:scale>
          <a:sx n="149" d="100"/>
          <a:sy n="149" d="100"/>
        </p:scale>
        <p:origin x="200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k, Erik" userId="d671f3b3-6b32-4fb2-a8f3-2d45ae172703" providerId="ADAL" clId="{58812FF0-1F5B-644B-8054-56A26E4299F6}"/>
    <pc:docChg chg="undo custSel modSld">
      <pc:chgData name="Pak, Erik" userId="d671f3b3-6b32-4fb2-a8f3-2d45ae172703" providerId="ADAL" clId="{58812FF0-1F5B-644B-8054-56A26E4299F6}" dt="2024-05-13T19:07:00.055" v="66" actId="478"/>
      <pc:docMkLst>
        <pc:docMk/>
      </pc:docMkLst>
      <pc:sldChg chg="addSp delSp modSp mod">
        <pc:chgData name="Pak, Erik" userId="d671f3b3-6b32-4fb2-a8f3-2d45ae172703" providerId="ADAL" clId="{58812FF0-1F5B-644B-8054-56A26E4299F6}" dt="2024-05-13T19:07:00.055" v="66" actId="478"/>
        <pc:sldMkLst>
          <pc:docMk/>
          <pc:sldMk cId="1445944966" sldId="256"/>
        </pc:sldMkLst>
        <pc:spChg chg="add del mod">
          <ac:chgData name="Pak, Erik" userId="d671f3b3-6b32-4fb2-a8f3-2d45ae172703" providerId="ADAL" clId="{58812FF0-1F5B-644B-8054-56A26E4299F6}" dt="2024-05-13T19:07:00.055" v="66" actId="478"/>
          <ac:spMkLst>
            <pc:docMk/>
            <pc:sldMk cId="1445944966" sldId="256"/>
            <ac:spMk id="2" creationId="{50B5EB12-3C00-48EA-D7C8-714789CD9261}"/>
          </ac:spMkLst>
        </pc:spChg>
      </pc:sldChg>
      <pc:sldChg chg="modSp mod">
        <pc:chgData name="Pak, Erik" userId="d671f3b3-6b32-4fb2-a8f3-2d45ae172703" providerId="ADAL" clId="{58812FF0-1F5B-644B-8054-56A26E4299F6}" dt="2024-05-12T19:59:20.332" v="64" actId="20577"/>
        <pc:sldMkLst>
          <pc:docMk/>
          <pc:sldMk cId="3726487975" sldId="260"/>
        </pc:sldMkLst>
        <pc:spChg chg="mod">
          <ac:chgData name="Pak, Erik" userId="d671f3b3-6b32-4fb2-a8f3-2d45ae172703" providerId="ADAL" clId="{58812FF0-1F5B-644B-8054-56A26E4299F6}" dt="2024-05-12T19:59:20.332" v="64" actId="20577"/>
          <ac:spMkLst>
            <pc:docMk/>
            <pc:sldMk cId="3726487975" sldId="260"/>
            <ac:spMk id="3" creationId="{DD7BA22B-FB2E-F845-9F43-B77A09B51B6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F24B7-1390-CDFC-B309-C05A8A94CD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78E75B-AA8B-8E97-6E07-5EE492D734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44177-319E-34C9-4A35-4AF923A80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22C33-92AE-0541-8515-527705C5F446}" type="datetimeFigureOut">
              <a:rPr lang="en-US" smtClean="0"/>
              <a:t>3/4/25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0F99CE-9ABE-D101-49D2-03549D6EC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518BD6-4DC5-CE91-1FCD-32E601D3C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B96A-5DAE-EF42-8B33-9CAA10D43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901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99EF5-F2D9-F06C-41FC-A8A64651E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AA70B8-A3A8-1865-9161-5F7CC6A92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FBE197-9910-A2FB-5172-57F7FC075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22C33-92AE-0541-8515-527705C5F446}" type="datetimeFigureOut">
              <a:rPr lang="en-US" smtClean="0"/>
              <a:t>3/4/25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6CA7E8-8CE0-35EE-5797-DD0DDBF22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13476-7E29-C8FF-8C40-B027C044C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B96A-5DAE-EF42-8B33-9CAA10D43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199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E1DCC-E8A0-28D6-1079-99635319F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2F8BC3-F3E1-FFCF-2E83-A2A670BDAC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88E7A9-D20F-D657-9CD0-31E30E010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22C33-92AE-0541-8515-527705C5F446}" type="datetimeFigureOut">
              <a:rPr lang="en-US" smtClean="0"/>
              <a:t>3/4/25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C206A2-FA45-8ABD-AC76-031F59BB3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A3FDA1-5F76-BB39-62EA-D6F6FEB07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B96A-5DAE-EF42-8B33-9CAA10D43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49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33AB7-A095-6719-C317-03BDBF8A2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68A2F-1259-E9DB-AE4C-9E96C04D61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9B8EF6-10B9-7CA7-9FB3-DA87F6C0D7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0954C1-F2A0-2CC9-5237-DE7FBFC2F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22C33-92AE-0541-8515-527705C5F446}" type="datetimeFigureOut">
              <a:rPr lang="en-US" smtClean="0"/>
              <a:t>3/4/25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FD64B0-4AA1-1F3D-615D-64C227994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FA31F2-5C2B-854E-F335-348B18EE7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B96A-5DAE-EF42-8B33-9CAA10D43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2823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9306F-8854-A174-8898-9967063C8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B660F4-71F8-EDF9-FD06-5989FA57B8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A47D4B-EBA3-3526-E36B-E540EBB848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2FC5D7-193B-B2F0-2253-2DCAF660A8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FC2278-B4B9-3C6D-7ABF-501342ACC7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9E1F1F-5B1E-DA29-F359-5C09A631E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22C33-92AE-0541-8515-527705C5F446}" type="datetimeFigureOut">
              <a:rPr lang="en-US" smtClean="0"/>
              <a:t>3/4/25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532AA1-665F-8E9B-AE37-7500D6D41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FD80FF-C4BD-53E6-8C31-6301245AF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B96A-5DAE-EF42-8B33-9CAA10D43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416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4E130-341F-D36E-6558-148651BB6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7129D1-1092-61DE-CE25-57D48FB37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22C33-92AE-0541-8515-527705C5F446}" type="datetimeFigureOut">
              <a:rPr lang="en-US" smtClean="0"/>
              <a:t>3/4/25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1BD61A-AAE9-83D9-A15B-1433E14E1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12E618-A080-650C-41A3-707CADB8D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B96A-5DAE-EF42-8B33-9CAA10D43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9030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803187-0397-667B-2746-F4F4A17FB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22C33-92AE-0541-8515-527705C5F446}" type="datetimeFigureOut">
              <a:rPr lang="en-US" smtClean="0"/>
              <a:t>3/4/25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B3517C-5C65-7372-8A2D-4844F7CFA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696AD5-294B-7FEC-CF05-52BFE10D7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B96A-5DAE-EF42-8B33-9CAA10D43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56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C4980-DE9B-B40D-939A-9F5AF7F36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0D54D-A90F-C754-0E75-1378BC0325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5325AE-BFA6-322F-DEF8-A5919974A9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F4688-AFE7-96AF-4370-5C2D648E2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22C33-92AE-0541-8515-527705C5F446}" type="datetimeFigureOut">
              <a:rPr lang="en-US" smtClean="0"/>
              <a:t>3/4/25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467E11-9399-A852-76C6-042A902A8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D55A4F-390C-8860-170F-BFF99CB37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B96A-5DAE-EF42-8B33-9CAA10D43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21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DC8A7-D90D-76A6-00BD-E2922FB85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F3E989-274F-000C-F4AF-59E2FF0C9F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0CF170-B6DA-38F4-7E1C-C7CC56D6E1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38B312-A358-B933-332B-4CA7BF56D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22C33-92AE-0541-8515-527705C5F446}" type="datetimeFigureOut">
              <a:rPr lang="en-US" smtClean="0"/>
              <a:t>3/4/25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26AD0F-72E4-7061-7FBC-9B1D0DE6A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A9C981-F89F-6AA9-6ED4-B8B1CA8C4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B96A-5DAE-EF42-8B33-9CAA10D43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005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76064-64B0-7FB4-2B0E-B68877009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992EA5-B2DA-F3E4-E836-B38008AE08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EB2133-77EB-480C-E2CF-355FEE758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22C33-92AE-0541-8515-527705C5F446}" type="datetimeFigureOut">
              <a:rPr lang="en-US" smtClean="0"/>
              <a:t>3/4/25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DD9F64-22C5-44E5-8B06-FC952CD2A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F5C01E-1B11-8330-694A-CFA522F0A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B96A-5DAE-EF42-8B33-9CAA10D43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1101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531B74-E373-04E9-9DDB-929C656028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931840-4458-EB4E-C655-33A3218A6D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64767-CF9D-8D98-528D-814CFF573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22C33-92AE-0541-8515-527705C5F446}" type="datetimeFigureOut">
              <a:rPr lang="en-US" smtClean="0"/>
              <a:t>3/4/25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545A5-8249-0C81-0E51-0685342C1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5790CC-8D90-6716-3998-E530D32C1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B96A-5DAE-EF42-8B33-9CAA10D43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9845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08F53A-37A2-BA32-FF7D-94A6AA994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4D001-3C10-3F49-AA1A-C7C00C91E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41EED-504A-BF16-6D31-0A6DBD80E0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D22C33-92AE-0541-8515-527705C5F446}" type="datetimeFigureOut">
              <a:rPr lang="en-US" smtClean="0"/>
              <a:t>3/4/25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A35AFF-5D54-391E-1C46-DF1DC95A00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1554E-90F0-353C-3849-B42502A203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A9B96A-5DAE-EF42-8B33-9CAA10D43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232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A09CEAD-068E-3816-0EA3-C7C7AC94DD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671222" cy="2440416"/>
          </a:xfrm>
        </p:spPr>
        <p:txBody>
          <a:bodyPr>
            <a:normAutofit/>
          </a:bodyPr>
          <a:lstStyle/>
          <a:p>
            <a:r>
              <a:rPr lang="en-US" dirty="0">
                <a:effectLst/>
                <a:latin typeface="Helvetica Neue" panose="02000503000000020004" pitchFamily="2" charset="0"/>
              </a:rPr>
              <a:t>United Network for Organ Sharing (UNOS) </a:t>
            </a:r>
          </a:p>
          <a:p>
            <a:pPr algn="l"/>
            <a:r>
              <a:rPr lang="en-US" b="1" i="0" dirty="0">
                <a:effectLst/>
                <a:latin typeface="system-ui"/>
              </a:rPr>
              <a:t>				</a:t>
            </a:r>
            <a:r>
              <a:rPr lang="en-US" i="0" dirty="0">
                <a:effectLst/>
                <a:latin typeface="system-ui"/>
              </a:rPr>
              <a:t>Discretization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Erik Pak</a:t>
            </a:r>
          </a:p>
        </p:txBody>
      </p:sp>
      <p:pic>
        <p:nvPicPr>
          <p:cNvPr id="5" name="Picture 4" descr="A screenshot of a web page&#10;&#10;Description automatically generated">
            <a:extLst>
              <a:ext uri="{FF2B5EF4-FFF2-40B4-BE49-F238E27FC236}">
                <a16:creationId xmlns:a16="http://schemas.microsoft.com/office/drawing/2014/main" id="{870E196C-D436-AFC3-ED34-FFB85983C8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574588"/>
            <a:ext cx="9671222" cy="3027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944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E57EFE-34D8-8FE0-6845-07C776EE1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3B48E-2E31-DE1D-0D69-BB54CC035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9E0A4-B463-1960-2BC1-980918A0F9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665941" cy="503237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Remove &amp; C</a:t>
            </a:r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onsolidate</a:t>
            </a:r>
            <a:r>
              <a:rPr lang="en-US" dirty="0"/>
              <a:t> &amp; Engineer Additional Features</a:t>
            </a:r>
          </a:p>
          <a:p>
            <a:pPr lvl="1"/>
            <a:r>
              <a:rPr lang="en-US" dirty="0"/>
              <a:t>Age/Creatinine/ for Donor &amp; Candidate</a:t>
            </a:r>
          </a:p>
          <a:p>
            <a:pPr lvl="2"/>
            <a:r>
              <a:rPr lang="en-US" dirty="0"/>
              <a:t>Difference/Addition/Ratio/Mean</a:t>
            </a:r>
          </a:p>
          <a:p>
            <a:pPr lvl="1"/>
            <a:r>
              <a:rPr lang="en-US" dirty="0"/>
              <a:t>Consolidate Numeric features</a:t>
            </a:r>
          </a:p>
          <a:p>
            <a:pPr lvl="2"/>
            <a:r>
              <a:rPr lang="en-US" dirty="0"/>
              <a:t>Hemodynamics: refers to the study of blood flow</a:t>
            </a:r>
          </a:p>
          <a:p>
            <a:pPr lvl="3"/>
            <a:r>
              <a:rPr lang="en-US" dirty="0">
                <a:latin typeface="system-ui"/>
              </a:rPr>
              <a:t>Registration &amp; Transplant</a:t>
            </a:r>
          </a:p>
          <a:p>
            <a:pPr lvl="4"/>
            <a:r>
              <a:rPr lang="en-US" dirty="0">
                <a:latin typeface="system-ui"/>
              </a:rPr>
              <a:t>Hemodynamics_SYS_CAN: Systolic blood pressure. (mmHg)</a:t>
            </a:r>
          </a:p>
          <a:p>
            <a:pPr lvl="4"/>
            <a:r>
              <a:rPr lang="en-US" dirty="0">
                <a:latin typeface="system-ui"/>
              </a:rPr>
              <a:t>Hemodynamics_PA_DIA_CAN: Pulmonary artery diastolic pressure. (mmHg)</a:t>
            </a:r>
          </a:p>
          <a:p>
            <a:pPr lvl="4"/>
            <a:r>
              <a:rPr lang="en-US" dirty="0">
                <a:latin typeface="system-ui"/>
              </a:rPr>
              <a:t>Hemodynamics_PA_MN_CAN: Pulmonary artery mean pressure. (mmHg)</a:t>
            </a:r>
          </a:p>
          <a:p>
            <a:pPr lvl="4"/>
            <a:r>
              <a:rPr lang="en-US" dirty="0">
                <a:latin typeface="system-ui"/>
              </a:rPr>
              <a:t>Hemodynamics_PCW_CAN: Pulmonary capillary wedge pressure. (mmHg)</a:t>
            </a:r>
          </a:p>
          <a:p>
            <a:pPr lvl="4"/>
            <a:r>
              <a:rPr lang="en-US" dirty="0">
                <a:latin typeface="system-ui"/>
              </a:rPr>
              <a:t>Hemodynamics_CO_CAN: Cardiac output. (L/min)</a:t>
            </a:r>
          </a:p>
          <a:p>
            <a:pPr lvl="3"/>
            <a:r>
              <a:rPr lang="en-US" dirty="0">
                <a:latin typeface="system-ui"/>
              </a:rPr>
              <a:t>Combine &amp; Interaction SYS/PA_DIA/PA_MIN/PWC</a:t>
            </a:r>
          </a:p>
          <a:p>
            <a:pPr lvl="4"/>
            <a:r>
              <a:rPr lang="en-US" dirty="0">
                <a:latin typeface="system-ui"/>
              </a:rPr>
              <a:t>Correlation above positive .8</a:t>
            </a:r>
          </a:p>
          <a:p>
            <a:pPr lvl="2"/>
            <a:r>
              <a:rPr lang="en-US" dirty="0">
                <a:latin typeface="system-ui"/>
              </a:rPr>
              <a:t>Any Life Support into a new single ordinal feature.</a:t>
            </a:r>
          </a:p>
          <a:p>
            <a:pPr lvl="3"/>
            <a:r>
              <a:rPr lang="en-US" dirty="0">
                <a:latin typeface="system-ui"/>
              </a:rPr>
              <a:t>Total Count for all ‘Yes’</a:t>
            </a:r>
          </a:p>
          <a:p>
            <a:pPr lvl="2"/>
            <a:r>
              <a:rPr lang="en-US" dirty="0">
                <a:latin typeface="system-ui"/>
              </a:rPr>
              <a:t>Age/Weight/Height</a:t>
            </a:r>
          </a:p>
          <a:p>
            <a:pPr lvl="3"/>
            <a:r>
              <a:rPr lang="en-US" dirty="0">
                <a:latin typeface="system-ui"/>
              </a:rPr>
              <a:t>New feature: difference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lvl="3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07625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CA843-E369-8640-99E9-41E421E0E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</a:t>
            </a:r>
            <a:r>
              <a:rPr lang="en-US" i="0" dirty="0">
                <a:effectLst/>
                <a:latin typeface="system-ui"/>
              </a:rPr>
              <a:t>Discretization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B23AA86-0347-E907-00E5-311F89AD98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1690688"/>
            <a:ext cx="5664573" cy="34538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2BFCFD-99BB-9C59-7239-0B6BA5CA3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8" y="5144568"/>
            <a:ext cx="5664573" cy="15088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1343B1-AAF5-6824-B3D2-3333C05B74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2773" y="1690688"/>
            <a:ext cx="5308227" cy="49627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E2CCEB0-1850-0A8F-DE91-C9F4140C0D6D}"/>
              </a:ext>
            </a:extLst>
          </p:cNvPr>
          <p:cNvSpPr txBox="1"/>
          <p:nvPr/>
        </p:nvSpPr>
        <p:spPr>
          <a:xfrm>
            <a:off x="2290273" y="2556177"/>
            <a:ext cx="42124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Gaussian Mixture Model (GMM) with different numbers of </a:t>
            </a:r>
          </a:p>
          <a:p>
            <a:r>
              <a:rPr lang="en-US" sz="1200" dirty="0"/>
              <a:t>components (clusters) and use information criteria (AIC and BIC) to determine the optimal number of. components.</a:t>
            </a:r>
          </a:p>
        </p:txBody>
      </p:sp>
    </p:spTree>
    <p:extLst>
      <p:ext uri="{BB962C8B-B14F-4D97-AF65-F5344CB8AC3E}">
        <p14:creationId xmlns:p14="http://schemas.microsoft.com/office/powerpoint/2010/main" val="2175035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09C752-93BC-F419-5948-7264ADA78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22952-89F8-0913-362C-C0AC71929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</a:t>
            </a:r>
            <a:r>
              <a:rPr lang="en-US" i="0" dirty="0">
                <a:effectLst/>
                <a:latin typeface="system-ui"/>
              </a:rPr>
              <a:t>Discretization </a:t>
            </a:r>
            <a:r>
              <a:rPr lang="en-US" dirty="0"/>
              <a:t>Cont…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9A7DE-E367-BE1F-3E68-83500AB5F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075491" cy="1097037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Blood PH</a:t>
            </a:r>
          </a:p>
          <a:p>
            <a:pPr lvl="1"/>
            <a:r>
              <a:rPr lang="en-US" sz="1200" dirty="0"/>
              <a:t>The normal blood pH range is indeed between 7.35 and 7.45. This slightly alkaline range is crucial for the proper functioning of enzymes and other biochemical reactions in the body.</a:t>
            </a:r>
          </a:p>
          <a:p>
            <a:pPr lvl="1"/>
            <a:r>
              <a:rPr lang="en-US" sz="1200" dirty="0"/>
              <a:t>A blood pH below 7.35 is considered acidic, and it can lead to a condition called acidosis. Acidosis can disrupt cellular functions and impair organ systems, particularly the cardiovascular and respiratory systems.</a:t>
            </a:r>
          </a:p>
          <a:p>
            <a:pPr lvl="1"/>
            <a:r>
              <a:rPr lang="en-US" sz="1200" dirty="0"/>
              <a:t>A blood pH above 7.45 is considered alkaline, and it can lead to a condition called alkalosis. Alkalosis can cause symptoms such as muscle twitching, hand tremors, and confusion.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A9C8CF-A77F-4EA0-27D1-95D14E9D84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68" y="3345694"/>
            <a:ext cx="5075491" cy="27051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27013F3-8C9B-E132-6198-386F5CE5BC8F}"/>
              </a:ext>
            </a:extLst>
          </p:cNvPr>
          <p:cNvSpPr txBox="1"/>
          <p:nvPr/>
        </p:nvSpPr>
        <p:spPr>
          <a:xfrm>
            <a:off x="6853727" y="1825625"/>
            <a:ext cx="4742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effectLst/>
                <a:latin typeface="system-ui"/>
              </a:rPr>
              <a:t>DistanceFromDonorHospitaltoTXCenter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0A6C16-2934-844B-3CC2-6796154D27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2093" y="2194957"/>
            <a:ext cx="5075490" cy="23014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8FA2FE1-A606-638B-2E04-31F64023DD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92" y="4496431"/>
            <a:ext cx="5075491" cy="2169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123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EC5946-99BF-03C4-402A-A13FA1FCF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FFA81-E25E-A2DA-4C46-CB4760F12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Data Cleaning Cont…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7F0FA-6EAB-D82F-697A-5374C944D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665941" cy="4667251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Additional </a:t>
            </a:r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Data wrangling</a:t>
            </a:r>
            <a:endParaRPr lang="en-US" dirty="0"/>
          </a:p>
          <a:p>
            <a:pPr lvl="1"/>
            <a:r>
              <a:rPr lang="en-US" dirty="0"/>
              <a:t>Remove Unwanted Features</a:t>
            </a:r>
          </a:p>
          <a:p>
            <a:pPr lvl="2"/>
            <a:r>
              <a:rPr lang="en-US" dirty="0"/>
              <a:t>PrimaryPaymentSource/WorkIncome/TransplantState/ResidencyState/etc.</a:t>
            </a:r>
          </a:p>
          <a:p>
            <a:pPr lvl="2"/>
            <a:r>
              <a:rPr lang="en-US" dirty="0"/>
              <a:t>OtherMedsText1/OtherMedsText2/OtherMedsText3/VentricularDeviceType/etc.</a:t>
            </a:r>
          </a:p>
          <a:p>
            <a:pPr lvl="2"/>
            <a:r>
              <a:rPr lang="en-US" dirty="0"/>
              <a:t>BMI/PreviousTransplantAnyOrgan &amp; PreviousTransplantSameOrgan</a:t>
            </a:r>
          </a:p>
          <a:p>
            <a:pPr lvl="1"/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Categorizing features</a:t>
            </a:r>
          </a:p>
          <a:p>
            <a:pPr lvl="2"/>
            <a:r>
              <a:rPr lang="en-US" i="0" dirty="0">
                <a:effectLst/>
                <a:latin typeface="system-ui"/>
              </a:rPr>
              <a:t>PanelReactiveAntibody</a:t>
            </a:r>
          </a:p>
          <a:p>
            <a:pPr lvl="3"/>
            <a:r>
              <a:rPr lang="en-US" b="0" i="0" dirty="0">
                <a:effectLst/>
                <a:latin typeface="system-ui"/>
              </a:rPr>
              <a:t>CPRA values typically range from 0% to 100%</a:t>
            </a:r>
            <a:endParaRPr lang="en-US" dirty="0"/>
          </a:p>
          <a:p>
            <a:pPr lvl="1"/>
            <a:r>
              <a:rPr lang="en-US" dirty="0"/>
              <a:t>Remove After &amp; Labels</a:t>
            </a:r>
          </a:p>
          <a:p>
            <a:pPr lvl="2"/>
            <a:r>
              <a:rPr lang="en-US" b="0" i="0" dirty="0">
                <a:effectLst/>
                <a:latin typeface="system-ui"/>
              </a:rPr>
              <a:t>FollowUpFunctionalStatus/AcuteRejectionEpisode/StrokePostTransplant/etc.</a:t>
            </a:r>
          </a:p>
          <a:p>
            <a:pPr lvl="1"/>
            <a:r>
              <a:rPr lang="en-US" dirty="0"/>
              <a:t>Consolidate Categories</a:t>
            </a:r>
          </a:p>
          <a:p>
            <a:pPr lvl="2"/>
            <a:r>
              <a:rPr lang="en-US" dirty="0"/>
              <a:t>Diagnosis Codes/Prior Cardiac Surgery Type</a:t>
            </a:r>
          </a:p>
          <a:p>
            <a:pPr lvl="3"/>
            <a:r>
              <a:rPr lang="en-US" dirty="0"/>
              <a:t>Consolidate different types Codes</a:t>
            </a:r>
          </a:p>
          <a:p>
            <a:pPr lvl="4"/>
            <a:r>
              <a:rPr lang="en-US" dirty="0"/>
              <a:t>Reduce the number of categories</a:t>
            </a:r>
          </a:p>
          <a:p>
            <a:pPr lvl="1"/>
            <a:r>
              <a:rPr lang="en-US" dirty="0"/>
              <a:t>Remove Unknown Features &amp; NaNs</a:t>
            </a:r>
          </a:p>
          <a:p>
            <a:pPr lvl="2"/>
            <a:r>
              <a:rPr lang="en-US" dirty="0"/>
              <a:t>DAYS_STAT1A/DAYS_STATA4/DAYS_STATA3/etc.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Total of 14,856 records and 113 features</a:t>
            </a:r>
          </a:p>
          <a:p>
            <a:pPr marL="0" indent="0">
              <a:buNone/>
            </a:pPr>
            <a:endParaRPr lang="en-US" dirty="0"/>
          </a:p>
          <a:p>
            <a:pPr lvl="1"/>
            <a:r>
              <a:rPr lang="en-US" b="1" dirty="0"/>
              <a:t>Note</a:t>
            </a:r>
            <a:r>
              <a:rPr lang="en-US" dirty="0"/>
              <a:t>: Hypothesis testing using Chi-square statistic and calculating Cramer's V to build consensus for the categorical variables while consolidating categorical variables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10463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35934D-BA29-1D96-A6E0-6C88C294F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7FFA8-91AF-D2BB-5644-D0B0D529D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B39C35-8F5D-B34F-20EE-ED36C0BF03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665941" cy="4667251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Additional </a:t>
            </a:r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Data wrangling</a:t>
            </a:r>
          </a:p>
          <a:p>
            <a:pPr marL="0" indent="0">
              <a:buNone/>
            </a:pPr>
            <a:endParaRPr lang="en-US" dirty="0"/>
          </a:p>
          <a:p>
            <a:pPr lvl="1"/>
            <a:r>
              <a:rPr lang="en-US" dirty="0"/>
              <a:t>Remove Unwanted Features</a:t>
            </a:r>
          </a:p>
          <a:p>
            <a:pPr lvl="2"/>
            <a:r>
              <a:rPr lang="en-US" dirty="0"/>
              <a:t>PrimaryPaymentSource/WorkIncome/TransplantState/ResidencyState/etc.</a:t>
            </a:r>
          </a:p>
          <a:p>
            <a:pPr lvl="2"/>
            <a:r>
              <a:rPr lang="en-US" dirty="0"/>
              <a:t>OtherMedsText1/OtherMedsText2/OtherMedsText3/VentricularDeviceType/etc.</a:t>
            </a:r>
          </a:p>
          <a:p>
            <a:pPr lvl="2"/>
            <a:r>
              <a:rPr lang="en-US" dirty="0"/>
              <a:t>BMI/PreviousTransplantAnyOrgan &amp; PreviousTransplantSameOrgan</a:t>
            </a:r>
          </a:p>
          <a:p>
            <a:pPr lvl="1"/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Categorizing features</a:t>
            </a:r>
          </a:p>
          <a:p>
            <a:pPr lvl="2"/>
            <a:r>
              <a:rPr lang="en-US" i="0" dirty="0">
                <a:effectLst/>
                <a:latin typeface="system-ui"/>
              </a:rPr>
              <a:t>PanelReactiveAntibody</a:t>
            </a:r>
          </a:p>
          <a:p>
            <a:pPr lvl="3"/>
            <a:r>
              <a:rPr lang="en-US" b="0" i="0" dirty="0">
                <a:effectLst/>
                <a:latin typeface="system-ui"/>
              </a:rPr>
              <a:t>CPRA values typically range from 0% to 100%</a:t>
            </a:r>
            <a:endParaRPr lang="en-US" dirty="0"/>
          </a:p>
          <a:p>
            <a:pPr lvl="1"/>
            <a:r>
              <a:rPr lang="en-US" dirty="0"/>
              <a:t>Remove After &amp; Labels</a:t>
            </a:r>
          </a:p>
          <a:p>
            <a:pPr lvl="2"/>
            <a:r>
              <a:rPr lang="en-US" b="0" i="0" dirty="0">
                <a:effectLst/>
                <a:latin typeface="system-ui"/>
              </a:rPr>
              <a:t>FollowUpFunctionalStatus/AcuteRejectionEpisode/StrokePostTransplant/etc.</a:t>
            </a:r>
          </a:p>
          <a:p>
            <a:pPr lvl="1"/>
            <a:r>
              <a:rPr lang="en-US" dirty="0"/>
              <a:t>Consolidate Categories</a:t>
            </a:r>
          </a:p>
          <a:p>
            <a:pPr lvl="2"/>
            <a:r>
              <a:rPr lang="en-US" dirty="0"/>
              <a:t>Diagnosis Codes/Prior Cardiac Surgery Type</a:t>
            </a:r>
          </a:p>
          <a:p>
            <a:pPr lvl="3"/>
            <a:r>
              <a:rPr lang="en-US" dirty="0"/>
              <a:t>Consolidate different types Codes</a:t>
            </a:r>
          </a:p>
          <a:p>
            <a:pPr lvl="4"/>
            <a:r>
              <a:rPr lang="en-US" dirty="0"/>
              <a:t>Reduce the number of categories</a:t>
            </a:r>
          </a:p>
          <a:p>
            <a:pPr lvl="1"/>
            <a:r>
              <a:rPr lang="en-US" dirty="0"/>
              <a:t>Remove Unknown Features &amp; NaNs</a:t>
            </a:r>
          </a:p>
          <a:p>
            <a:pPr lvl="2"/>
            <a:r>
              <a:rPr lang="en-US" dirty="0"/>
              <a:t>DAYS_STAT1A/DAYS_STATA4/DAYS_STATA3/etc.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Total of 14,856 records and 113 features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40935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1694</TotalTime>
  <Words>544</Words>
  <Application>Microsoft Macintosh PowerPoint</Application>
  <PresentationFormat>Widescreen</PresentationFormat>
  <Paragraphs>74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Google Sans</vt:lpstr>
      <vt:lpstr>Helvetica Neue</vt:lpstr>
      <vt:lpstr>system-ui</vt:lpstr>
      <vt:lpstr>Office Theme</vt:lpstr>
      <vt:lpstr>PowerPoint Presentation</vt:lpstr>
      <vt:lpstr>Data Engineering</vt:lpstr>
      <vt:lpstr>Data Discretization</vt:lpstr>
      <vt:lpstr>Data Discretization Cont…</vt:lpstr>
      <vt:lpstr>Additional Data Cleaning Cont…</vt:lpstr>
      <vt:lpstr>Machine Learning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Pak, Erik</dc:creator>
  <cp:lastModifiedBy>Erik Pak</cp:lastModifiedBy>
  <cp:revision>7</cp:revision>
  <dcterms:created xsi:type="dcterms:W3CDTF">2024-05-12T16:59:59Z</dcterms:created>
  <dcterms:modified xsi:type="dcterms:W3CDTF">2025-03-05T00:05:53Z</dcterms:modified>
</cp:coreProperties>
</file>