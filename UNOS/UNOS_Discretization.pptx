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12FF0-1F5B-644B-8054-56A26E4299F6}" v="162" dt="2024-05-13T19:06:53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3"/>
    <p:restoredTop sz="94710"/>
  </p:normalViewPr>
  <p:slideViewPr>
    <p:cSldViewPr snapToGrid="0">
      <p:cViewPr varScale="1">
        <p:scale>
          <a:sx n="149" d="100"/>
          <a:sy n="149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k, Erik" userId="d671f3b3-6b32-4fb2-a8f3-2d45ae172703" providerId="ADAL" clId="{58812FF0-1F5B-644B-8054-56A26E4299F6}"/>
    <pc:docChg chg="undo custSel modSld">
      <pc:chgData name="Pak, Erik" userId="d671f3b3-6b32-4fb2-a8f3-2d45ae172703" providerId="ADAL" clId="{58812FF0-1F5B-644B-8054-56A26E4299F6}" dt="2024-05-13T19:07:00.055" v="66" actId="478"/>
      <pc:docMkLst>
        <pc:docMk/>
      </pc:docMkLst>
      <pc:sldChg chg="addSp delSp modSp mod">
        <pc:chgData name="Pak, Erik" userId="d671f3b3-6b32-4fb2-a8f3-2d45ae172703" providerId="ADAL" clId="{58812FF0-1F5B-644B-8054-56A26E4299F6}" dt="2024-05-13T19:07:00.055" v="66" actId="478"/>
        <pc:sldMkLst>
          <pc:docMk/>
          <pc:sldMk cId="1445944966" sldId="256"/>
        </pc:sldMkLst>
        <pc:spChg chg="add del mod">
          <ac:chgData name="Pak, Erik" userId="d671f3b3-6b32-4fb2-a8f3-2d45ae172703" providerId="ADAL" clId="{58812FF0-1F5B-644B-8054-56A26E4299F6}" dt="2024-05-13T19:07:00.055" v="66" actId="478"/>
          <ac:spMkLst>
            <pc:docMk/>
            <pc:sldMk cId="1445944966" sldId="256"/>
            <ac:spMk id="2" creationId="{50B5EB12-3C00-48EA-D7C8-714789CD9261}"/>
          </ac:spMkLst>
        </pc:spChg>
      </pc:sldChg>
      <pc:sldChg chg="modSp mod">
        <pc:chgData name="Pak, Erik" userId="d671f3b3-6b32-4fb2-a8f3-2d45ae172703" providerId="ADAL" clId="{58812FF0-1F5B-644B-8054-56A26E4299F6}" dt="2024-05-12T19:59:20.332" v="64" actId="20577"/>
        <pc:sldMkLst>
          <pc:docMk/>
          <pc:sldMk cId="3726487975" sldId="260"/>
        </pc:sldMkLst>
        <pc:spChg chg="mod">
          <ac:chgData name="Pak, Erik" userId="d671f3b3-6b32-4fb2-a8f3-2d45ae172703" providerId="ADAL" clId="{58812FF0-1F5B-644B-8054-56A26E4299F6}" dt="2024-05-12T19:59:20.332" v="64" actId="20577"/>
          <ac:spMkLst>
            <pc:docMk/>
            <pc:sldMk cId="3726487975" sldId="260"/>
            <ac:spMk id="3" creationId="{DD7BA22B-FB2E-F845-9F43-B77A09B51B6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24B7-1390-CDFC-B309-C05A8A94C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8E75B-AA8B-8E97-6E07-5EE492D73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44177-319E-34C9-4A35-4AF923A80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F99CE-9ABE-D101-49D2-03549D6E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18BD6-4DC5-CE91-1FCD-32E601D3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01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99EF5-F2D9-F06C-41FC-A8A64651E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A70B8-A3A8-1865-9161-5F7CC6A92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BE197-9910-A2FB-5172-57F7FC07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CA7E8-8CE0-35EE-5797-DD0DDBF22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13476-7E29-C8FF-8C40-B027C044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99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1DCC-E8A0-28D6-1079-99635319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F8BC3-F3E1-FFCF-2E83-A2A670BDA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8E7A9-D20F-D657-9CD0-31E30E01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06A2-FA45-8ABD-AC76-031F59BB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3FDA1-5F76-BB39-62EA-D6F6FEB07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9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33AB7-A095-6719-C317-03BDBF8A2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68A2F-1259-E9DB-AE4C-9E96C04D61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B8EF6-10B9-7CA7-9FB3-DA87F6C0D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954C1-F2A0-2CC9-5237-DE7FBFC2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D64B0-4AA1-1F3D-615D-64C22799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A31F2-5C2B-854E-F335-348B18EE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28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306F-8854-A174-8898-9967063C8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660F4-71F8-EDF9-FD06-5989FA57B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47D4B-EBA3-3526-E36B-E540EBB84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2FC5D7-193B-B2F0-2253-2DCAF660A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C2278-B4B9-3C6D-7ABF-501342ACC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E1F1F-5B1E-DA29-F359-5C09A631E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532AA1-665F-8E9B-AE37-7500D6D41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FD80FF-C4BD-53E6-8C31-6301245AF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16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4E130-341F-D36E-6558-148651BB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129D1-1092-61DE-CE25-57D48FB3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BD61A-AAE9-83D9-A15B-1433E14E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2E618-A080-650C-41A3-707CADB8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03187-0397-667B-2746-F4F4A17F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3517C-5C65-7372-8A2D-4844F7CFA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96AD5-294B-7FEC-CF05-52BFE10D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6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C4980-DE9B-B40D-939A-9F5AF7F36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0D54D-A90F-C754-0E75-1378BC032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325AE-BFA6-322F-DEF8-A5919974A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F4688-AFE7-96AF-4370-5C2D648E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67E11-9399-A852-76C6-042A902A8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55A4F-390C-8860-170F-BFF99CB37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1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DC8A7-D90D-76A6-00BD-E2922FB85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F3E989-274F-000C-F4AF-59E2FF0C9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CF170-B6DA-38F4-7E1C-C7CC56D6E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8B312-A358-B933-332B-4CA7BF56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AD0F-72E4-7061-7FBC-9B1D0DE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9C981-F89F-6AA9-6ED4-B8B1CA8C4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0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6064-64B0-7FB4-2B0E-B68877009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92EA5-B2DA-F3E4-E836-B38008AE0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B2133-77EB-480C-E2CF-355FEE75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D9F64-22C5-44E5-8B06-FC952CD2A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5C01E-1B11-8330-694A-CFA522F0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10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31B74-E373-04E9-9DDB-929C65602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31840-4458-EB4E-C655-33A3218A6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64767-CF9D-8D98-528D-814CFF57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45A5-8249-0C81-0E51-0685342C1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790CC-8D90-6716-3998-E530D32C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84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8F53A-37A2-BA32-FF7D-94A6AA99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4D001-3C10-3F49-AA1A-C7C00C91E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41EED-504A-BF16-6D31-0A6DBD80E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D22C33-92AE-0541-8515-527705C5F446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35AFF-5D54-391E-1C46-DF1DC95A0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1554E-90F0-353C-3849-B42502A20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A9B96A-5DAE-EF42-8B33-9CAA10D43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3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09CEAD-068E-3816-0EA3-C7C7AC94D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71222" cy="2440416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United Network for Organ Sharing (UNOS) </a:t>
            </a:r>
          </a:p>
          <a:p>
            <a:pPr algn="l"/>
            <a:r>
              <a:rPr lang="en-US" b="1" i="0" dirty="0">
                <a:effectLst/>
                <a:latin typeface="system-ui"/>
              </a:rPr>
              <a:t>				</a:t>
            </a:r>
            <a:r>
              <a:rPr lang="en-US" i="0" dirty="0">
                <a:effectLst/>
                <a:latin typeface="system-ui"/>
              </a:rPr>
              <a:t>Discretization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Erik Pak</a:t>
            </a:r>
          </a:p>
        </p:txBody>
      </p:sp>
      <p:pic>
        <p:nvPicPr>
          <p:cNvPr id="5" name="Picture 4" descr="A screenshot of a web page&#10;&#10;Description automatically generated">
            <a:extLst>
              <a:ext uri="{FF2B5EF4-FFF2-40B4-BE49-F238E27FC236}">
                <a16:creationId xmlns:a16="http://schemas.microsoft.com/office/drawing/2014/main" id="{870E196C-D436-AFC3-ED34-FFB85983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74588"/>
            <a:ext cx="9671222" cy="302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44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57EFE-34D8-8FE0-6845-07C776EE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B48E-2E31-DE1D-0D69-BB54CC03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9E0A4-B463-1960-2BC1-980918A0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65941" cy="503237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Remove &amp; C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onsolidate</a:t>
            </a:r>
            <a:r>
              <a:rPr lang="en-US" dirty="0"/>
              <a:t> &amp; Engineer Additional Features</a:t>
            </a:r>
          </a:p>
          <a:p>
            <a:pPr lvl="1"/>
            <a:r>
              <a:rPr lang="en-US" dirty="0"/>
              <a:t>Age/Creatinine/ for Donor &amp; Candidate</a:t>
            </a:r>
          </a:p>
          <a:p>
            <a:pPr lvl="2"/>
            <a:r>
              <a:rPr lang="en-US" dirty="0"/>
              <a:t>Difference/Addition/Ratio/Mean</a:t>
            </a:r>
          </a:p>
          <a:p>
            <a:pPr lvl="1"/>
            <a:r>
              <a:rPr lang="en-US" dirty="0"/>
              <a:t>Consolidate Numeric features</a:t>
            </a:r>
          </a:p>
          <a:p>
            <a:pPr lvl="2"/>
            <a:r>
              <a:rPr lang="en-US" dirty="0"/>
              <a:t>Hemodynamics: refers to the study of blood flow</a:t>
            </a:r>
          </a:p>
          <a:p>
            <a:pPr lvl="3"/>
            <a:r>
              <a:rPr lang="en-US" dirty="0">
                <a:latin typeface="system-ui"/>
              </a:rPr>
              <a:t>Registration &amp; Transplant</a:t>
            </a:r>
          </a:p>
          <a:p>
            <a:pPr lvl="4"/>
            <a:r>
              <a:rPr lang="en-US" dirty="0">
                <a:latin typeface="system-ui"/>
              </a:rPr>
              <a:t>Hemodynamics_SYS_CAN: Systolic blood pressure. (mmHg)</a:t>
            </a:r>
          </a:p>
          <a:p>
            <a:pPr lvl="4"/>
            <a:r>
              <a:rPr lang="en-US" dirty="0">
                <a:latin typeface="system-ui"/>
              </a:rPr>
              <a:t>Hemodynamics_PA_DIA_CAN: Pulmonary artery diastolic pressure. (mmHg)</a:t>
            </a:r>
          </a:p>
          <a:p>
            <a:pPr lvl="4"/>
            <a:r>
              <a:rPr lang="en-US" dirty="0">
                <a:latin typeface="system-ui"/>
              </a:rPr>
              <a:t>Hemodynamics_PA_MN_CAN: Pulmonary artery mean pressure. (mmHg)</a:t>
            </a:r>
          </a:p>
          <a:p>
            <a:pPr lvl="4"/>
            <a:r>
              <a:rPr lang="en-US" dirty="0">
                <a:latin typeface="system-ui"/>
              </a:rPr>
              <a:t>Hemodynamics_PCW_CAN: Pulmonary capillary wedge pressure. (mmHg)</a:t>
            </a:r>
          </a:p>
          <a:p>
            <a:pPr lvl="4"/>
            <a:r>
              <a:rPr lang="en-US" dirty="0">
                <a:latin typeface="system-ui"/>
              </a:rPr>
              <a:t>Hemodynamics_CO_CAN: Cardiac output. (L/min)</a:t>
            </a:r>
          </a:p>
          <a:p>
            <a:pPr lvl="3"/>
            <a:endParaRPr lang="en-US" dirty="0">
              <a:latin typeface="system-ui"/>
            </a:endParaRPr>
          </a:p>
          <a:p>
            <a:pPr lvl="3"/>
            <a:endParaRPr lang="en-US" dirty="0">
              <a:latin typeface="system-ui"/>
            </a:endParaRPr>
          </a:p>
          <a:p>
            <a:pPr lvl="3"/>
            <a:endParaRPr lang="en-US" dirty="0">
              <a:latin typeface="system-ui"/>
            </a:endParaRPr>
          </a:p>
          <a:p>
            <a:pPr lvl="3"/>
            <a:r>
              <a:rPr lang="en-US" dirty="0">
                <a:latin typeface="system-ui"/>
              </a:rPr>
              <a:t>Candidate with any life support into a new single binary feature.</a:t>
            </a:r>
          </a:p>
          <a:p>
            <a:pPr lvl="2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Hemodynamics &amp; Inotropic and Vasodilator &amp; etc.</a:t>
            </a:r>
          </a:p>
          <a:p>
            <a:pPr lvl="3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Chi2/Cramer's V score statistics test for categorical features to determine the association between categories before consolidating features</a:t>
            </a:r>
          </a:p>
          <a:p>
            <a:pPr lvl="3"/>
            <a:r>
              <a:rPr lang="en-US" dirty="0"/>
              <a:t>Consolidate features that contain prior Heart transplantation &amp; remove any measurements taken after the surgery</a:t>
            </a:r>
          </a:p>
          <a:p>
            <a:pPr lvl="2"/>
            <a:r>
              <a:rPr lang="en-US" dirty="0"/>
              <a:t>Numeric Categories (Nominal/Ordinal)</a:t>
            </a:r>
          </a:p>
          <a:p>
            <a:pPr lvl="3"/>
            <a:r>
              <a:rPr lang="en-US" dirty="0"/>
              <a:t>Transform features into description using Data Dictionary excel from optn-star-files-data-dictionary.xlsx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6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A843-E369-8640-99E9-41E421E0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i="0" dirty="0">
                <a:effectLst/>
                <a:latin typeface="system-ui"/>
              </a:rPr>
              <a:t>Discretization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3D7EA-A15E-A260-40C2-5E434077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727724" cy="4802187"/>
          </a:xfrm>
        </p:spPr>
        <p:txBody>
          <a:bodyPr>
            <a:normAutofit/>
          </a:bodyPr>
          <a:lstStyle/>
          <a:p>
            <a:r>
              <a:rPr lang="en-US" dirty="0"/>
              <a:t>Data from 2016 to 2021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Donors &amp; Recipients in a single row </a:t>
            </a:r>
            <a:endParaRPr lang="en-US" dirty="0"/>
          </a:p>
          <a:p>
            <a:r>
              <a:rPr lang="en-US" dirty="0"/>
              <a:t>Number of Numeric features</a:t>
            </a:r>
          </a:p>
          <a:p>
            <a:pPr lvl="1"/>
            <a:r>
              <a:rPr lang="en-US" dirty="0"/>
              <a:t>64 features</a:t>
            </a:r>
          </a:p>
        </p:txBody>
      </p:sp>
    </p:spTree>
    <p:extLst>
      <p:ext uri="{BB962C8B-B14F-4D97-AF65-F5344CB8AC3E}">
        <p14:creationId xmlns:p14="http://schemas.microsoft.com/office/powerpoint/2010/main" val="217503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9C752-93BC-F419-5948-7264ADA7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2952-89F8-0913-362C-C0AC7192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Data Cleaning Cont…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9A7DE-E367-BE1F-3E68-83500AB5F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65941" cy="466725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Additional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Data wrangling</a:t>
            </a:r>
            <a:endParaRPr lang="en-US" dirty="0"/>
          </a:p>
          <a:p>
            <a:pPr lvl="1"/>
            <a:r>
              <a:rPr lang="en-US" dirty="0"/>
              <a:t>Remove Unwanted Features</a:t>
            </a:r>
          </a:p>
          <a:p>
            <a:pPr lvl="2"/>
            <a:r>
              <a:rPr lang="en-US" dirty="0"/>
              <a:t>PrimaryPaymentSource/WorkIncome/TransplantState/ResidencyState/etc.</a:t>
            </a:r>
          </a:p>
          <a:p>
            <a:pPr lvl="2"/>
            <a:r>
              <a:rPr lang="en-US" dirty="0"/>
              <a:t>OtherMedsText1/OtherMedsText2/OtherMedsText3/VentricularDeviceType/etc.</a:t>
            </a:r>
          </a:p>
          <a:p>
            <a:pPr lvl="2"/>
            <a:r>
              <a:rPr lang="en-US" dirty="0"/>
              <a:t>BMI/PreviousTransplantAnyOrgan &amp; PreviousTransplantSameOrgan</a:t>
            </a:r>
          </a:p>
          <a:p>
            <a:pPr lvl="1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Categorizing features</a:t>
            </a:r>
          </a:p>
          <a:p>
            <a:pPr lvl="2"/>
            <a:r>
              <a:rPr lang="en-US" i="0" dirty="0">
                <a:effectLst/>
                <a:latin typeface="system-ui"/>
              </a:rPr>
              <a:t>PanelReactiveAntibody</a:t>
            </a:r>
          </a:p>
          <a:p>
            <a:pPr lvl="3"/>
            <a:r>
              <a:rPr lang="en-US" b="0" i="0" dirty="0">
                <a:effectLst/>
                <a:latin typeface="system-ui"/>
              </a:rPr>
              <a:t>CPRA values typically range from 0% to 100%</a:t>
            </a:r>
            <a:endParaRPr lang="en-US" dirty="0"/>
          </a:p>
          <a:p>
            <a:pPr lvl="1"/>
            <a:r>
              <a:rPr lang="en-US" dirty="0"/>
              <a:t>Remove After &amp; Labels</a:t>
            </a:r>
          </a:p>
          <a:p>
            <a:pPr lvl="2"/>
            <a:r>
              <a:rPr lang="en-US" b="0" i="0" dirty="0">
                <a:effectLst/>
                <a:latin typeface="system-ui"/>
              </a:rPr>
              <a:t>FollowUpFunctionalStatus/AcuteRejectionEpisode/StrokePostTransplant/etc.</a:t>
            </a:r>
          </a:p>
          <a:p>
            <a:pPr lvl="1"/>
            <a:r>
              <a:rPr lang="en-US" dirty="0"/>
              <a:t>Consolidate Categories</a:t>
            </a:r>
          </a:p>
          <a:p>
            <a:pPr lvl="2"/>
            <a:r>
              <a:rPr lang="en-US" dirty="0"/>
              <a:t>Diagnosis Codes/Prior Cardiac Surgery Type</a:t>
            </a:r>
          </a:p>
          <a:p>
            <a:pPr lvl="3"/>
            <a:r>
              <a:rPr lang="en-US" dirty="0"/>
              <a:t>Consolidate different types Codes</a:t>
            </a:r>
          </a:p>
          <a:p>
            <a:pPr lvl="4"/>
            <a:r>
              <a:rPr lang="en-US" dirty="0"/>
              <a:t>Reduce the number of categories</a:t>
            </a:r>
          </a:p>
          <a:p>
            <a:pPr lvl="1"/>
            <a:r>
              <a:rPr lang="en-US" dirty="0"/>
              <a:t>Remove Unknown Features &amp; NaNs</a:t>
            </a:r>
          </a:p>
          <a:p>
            <a:pPr lvl="2"/>
            <a:r>
              <a:rPr lang="en-US" dirty="0"/>
              <a:t>DAYS_STAT1A/DAYS_STATA4/DAYS_STATA3/etc.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Total of 14,856 records and 113 features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Note</a:t>
            </a:r>
            <a:r>
              <a:rPr lang="en-US" dirty="0"/>
              <a:t>: Hypothesis testing using Chi-square statistic and calculating Cramer's V to build consensus for the categorical variables while consolidating categorical 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2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35934D-BA29-1D96-A6E0-6C88C294F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7FFA8-91AF-D2BB-5644-D0B0D529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39C35-8F5D-B34F-20EE-ED36C0BF0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65941" cy="466725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Additional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Data wrangling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Remove Unwanted Features</a:t>
            </a:r>
          </a:p>
          <a:p>
            <a:pPr lvl="2"/>
            <a:r>
              <a:rPr lang="en-US" dirty="0"/>
              <a:t>PrimaryPaymentSource/WorkIncome/TransplantState/ResidencyState/etc.</a:t>
            </a:r>
          </a:p>
          <a:p>
            <a:pPr lvl="2"/>
            <a:r>
              <a:rPr lang="en-US" dirty="0"/>
              <a:t>OtherMedsText1/OtherMedsText2/OtherMedsText3/VentricularDeviceType/etc.</a:t>
            </a:r>
          </a:p>
          <a:p>
            <a:pPr lvl="2"/>
            <a:r>
              <a:rPr lang="en-US" dirty="0"/>
              <a:t>BMI/PreviousTransplantAnyOrgan &amp; PreviousTransplantSameOrgan</a:t>
            </a:r>
          </a:p>
          <a:p>
            <a:pPr lvl="1"/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Categorizing features</a:t>
            </a:r>
          </a:p>
          <a:p>
            <a:pPr lvl="2"/>
            <a:r>
              <a:rPr lang="en-US" i="0" dirty="0">
                <a:effectLst/>
                <a:latin typeface="system-ui"/>
              </a:rPr>
              <a:t>PanelReactiveAntibody</a:t>
            </a:r>
          </a:p>
          <a:p>
            <a:pPr lvl="3"/>
            <a:r>
              <a:rPr lang="en-US" b="0" i="0" dirty="0">
                <a:effectLst/>
                <a:latin typeface="system-ui"/>
              </a:rPr>
              <a:t>CPRA values typically range from 0% to 100%</a:t>
            </a:r>
            <a:endParaRPr lang="en-US" dirty="0"/>
          </a:p>
          <a:p>
            <a:pPr lvl="1"/>
            <a:r>
              <a:rPr lang="en-US" dirty="0"/>
              <a:t>Remove After &amp; Labels</a:t>
            </a:r>
          </a:p>
          <a:p>
            <a:pPr lvl="2"/>
            <a:r>
              <a:rPr lang="en-US" b="0" i="0" dirty="0">
                <a:effectLst/>
                <a:latin typeface="system-ui"/>
              </a:rPr>
              <a:t>FollowUpFunctionalStatus/AcuteRejectionEpisode/StrokePostTransplant/etc.</a:t>
            </a:r>
          </a:p>
          <a:p>
            <a:pPr lvl="1"/>
            <a:r>
              <a:rPr lang="en-US" dirty="0"/>
              <a:t>Consolidate Categories</a:t>
            </a:r>
          </a:p>
          <a:p>
            <a:pPr lvl="2"/>
            <a:r>
              <a:rPr lang="en-US" dirty="0"/>
              <a:t>Diagnosis Codes/Prior Cardiac Surgery Type</a:t>
            </a:r>
          </a:p>
          <a:p>
            <a:pPr lvl="3"/>
            <a:r>
              <a:rPr lang="en-US" dirty="0"/>
              <a:t>Consolidate different types Codes</a:t>
            </a:r>
          </a:p>
          <a:p>
            <a:pPr lvl="4"/>
            <a:r>
              <a:rPr lang="en-US" dirty="0"/>
              <a:t>Reduce the number of categories</a:t>
            </a:r>
          </a:p>
          <a:p>
            <a:pPr lvl="1"/>
            <a:r>
              <a:rPr lang="en-US" dirty="0"/>
              <a:t>Remove Unknown Features &amp; NaNs</a:t>
            </a:r>
          </a:p>
          <a:p>
            <a:pPr lvl="2"/>
            <a:r>
              <a:rPr lang="en-US" dirty="0"/>
              <a:t>DAYS_STAT1A/DAYS_STATA4/DAYS_STATA3/etc.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Total of 14,856 records and 113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9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1625</TotalTime>
  <Words>449</Words>
  <Application>Microsoft Macintosh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Google Sans</vt:lpstr>
      <vt:lpstr>Helvetica Neue</vt:lpstr>
      <vt:lpstr>system-ui</vt:lpstr>
      <vt:lpstr>Office Theme</vt:lpstr>
      <vt:lpstr>PowerPoint Presentation</vt:lpstr>
      <vt:lpstr>Data Cleaning</vt:lpstr>
      <vt:lpstr>Data Discretization</vt:lpstr>
      <vt:lpstr>Additional Data Cleaning Cont…</vt:lpstr>
      <vt:lpstr>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Pak, Erik</dc:creator>
  <cp:lastModifiedBy>Erik Pak</cp:lastModifiedBy>
  <cp:revision>6</cp:revision>
  <dcterms:created xsi:type="dcterms:W3CDTF">2024-05-12T16:59:59Z</dcterms:created>
  <dcterms:modified xsi:type="dcterms:W3CDTF">2025-03-04T22:56:24Z</dcterms:modified>
</cp:coreProperties>
</file>